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3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9FE870"/>
                </a:solidFill>
                <a:latin typeface="Inter"/>
              </a:rPr>
              <a:t>ambipar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Inter"/>
              </a:rPr>
              <a:t>Proposta Comercial</a:t>
            </a:r>
          </a:p>
          <a:p>
            <a:pPr>
              <a:spcAft>
                <a:spcPts val="600"/>
              </a:spcAft>
            </a:pPr>
            <a:r>
              <a:rPr sz="2400" b="0">
                <a:solidFill>
                  <a:srgbClr val="E2F6D5"/>
                </a:solidFill>
                <a:latin typeface="Inter"/>
              </a:rPr>
              <a:t>Logística reversa de embalagens</a:t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9FE870"/>
                </a:solidFill>
                <a:latin typeface="Inter"/>
              </a:rPr>
              <a:t>Preparada para {{CLIENTE}}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F6D5"/>
                </a:solidFill>
                <a:latin typeface="Inter"/>
              </a:rPr>
              <a:t>Proposta nº {{NUMERO_PROPOSTA}} · {{DATA_PROPOSTA}} · válida até {{VALIDADE}}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E0F0C"/>
                </a:solidFill>
                <a:latin typeface="Inter"/>
              </a:rPr>
              <a:t>Escopo da compensação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6A6C6A"/>
                </a:solidFill>
                <a:latin typeface="Inter"/>
              </a:rPr>
              <a:t>Cliente: {{CLIENTE}} · CNPJ {{CNPJ}}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A6C6A"/>
                </a:solidFill>
                <a:latin typeface="Inter"/>
              </a:rPr>
              <a:t>Anos de compensação: {{ANOS}}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A6C6A"/>
                </a:solidFill>
                <a:latin typeface="Inter"/>
              </a:rPr>
              <a:t>Estados ({{QTD_ESTADOS}}): {{ESTADOS}}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A6C6A"/>
                </a:solidFill>
                <a:latin typeface="Inter"/>
              </a:rPr>
              <a:t>Materiais: {{MATERIAIS}}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840480"/>
            <a:ext cx="3383280" cy="1463040"/>
          </a:xfrm>
          <a:prstGeom prst="roundRect">
            <a:avLst>
              <a:gd name="adj" fmla="val 12000"/>
            </a:avLst>
          </a:prstGeom>
          <a:solidFill>
            <a:srgbClr val="E2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6A6C6A"/>
                </a:solidFill>
              </a:rPr>
              <a:t>Massa declarada</a:t>
            </a:r>
          </a:p>
          <a:p>
            <a:r>
              <a:rPr sz="2400" b="1">
                <a:solidFill>
                  <a:srgbClr val="0E0F0C"/>
                </a:solidFill>
              </a:rPr>
              <a:t>{{VOLUME_DECLARADO}}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3840480"/>
            <a:ext cx="3383280" cy="1463040"/>
          </a:xfrm>
          <a:prstGeom prst="roundRect">
            <a:avLst>
              <a:gd name="adj" fmla="val 12000"/>
            </a:avLst>
          </a:prstGeom>
          <a:solidFill>
            <a:srgbClr val="E2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6A6C6A"/>
                </a:solidFill>
              </a:rPr>
              <a:t>Massa a compensar</a:t>
            </a:r>
          </a:p>
          <a:p>
            <a:r>
              <a:rPr sz="2400" b="1">
                <a:solidFill>
                  <a:srgbClr val="0E0F0C"/>
                </a:solidFill>
              </a:rPr>
              <a:t>{{VOLUME_COMPENSAR}}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3840480"/>
            <a:ext cx="3383280" cy="1463040"/>
          </a:xfrm>
          <a:prstGeom prst="roundRect">
            <a:avLst>
              <a:gd name="adj" fmla="val 12000"/>
            </a:avLst>
          </a:prstGeom>
          <a:solidFill>
            <a:srgbClr val="16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E2F6D5"/>
                </a:solidFill>
              </a:rPr>
              <a:t>Investimento</a:t>
            </a:r>
          </a:p>
          <a:p>
            <a:r>
              <a:rPr sz="2400" b="1">
                <a:solidFill>
                  <a:srgbClr val="9FE870"/>
                </a:solidFill>
              </a:rPr>
              <a:t>{{VALOR_TOTAL}}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E0F0C"/>
                </a:solidFill>
                <a:latin typeface="Inter"/>
              </a:rPr>
              <a:t>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6A6C6A"/>
                </a:solidFill>
                <a:latin typeface="Inter"/>
              </a:rPr>
              <a:t>A proposta técnica com o detalhamento por ano, estado e material acompanha esta apresentação.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A6C6A"/>
                </a:solidFill>
                <a:latin typeface="Inter"/>
              </a:rPr>
              <a:t>Contato no cliente: {{CONTATO}} · {{EMAIL_CLIENTE}} · {{TELEFONE}}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A6C6A"/>
                </a:solidFill>
                <a:latin typeface="Inter"/>
              </a:rPr>
              <a:t>Responsável Ambipar: {{RESPONSAVEL}} · {{EMAIL_RESPONSAVEL}}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A6C6A"/>
                </a:solidFill>
                <a:latin typeface="Inter"/>
              </a:rPr>
              <a:t>{{OBSERVACOES}}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A6C6A"/>
                </a:solidFill>
                <a:latin typeface="Inter"/>
              </a:rPr>
              <a:t>{{EMPRESA}} · CNPJ {{CNPJ_EMPRESA}}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